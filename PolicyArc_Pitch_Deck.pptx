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[POLICYARC]  //  SLIDE 01 / 05  //  EXECUTIVE SUMMARY // CIRCLE ARC MICROGRANT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F66"/>
                </a:solidFill>
                <a:latin typeface="Consolas"/>
              </a:defRPr>
            </a:pPr>
            <a:r>
              <a:t>THE AUTONOMOUS AGENT IN THE FINANCIAL MACHINE</a:t>
            </a:r>
          </a:p>
          <a:p>
            <a:pPr>
              <a:spcBef>
                <a:spcPts val="800"/>
              </a:spcBef>
              <a:defRPr sz="3600">
                <a:solidFill>
                  <a:srgbClr val="FFFFFF"/>
                </a:solidFill>
                <a:latin typeface="Arial Black"/>
              </a:defRPr>
            </a:pPr>
            <a:r>
              <a:t>POLICYARC: DETERMINISTIC AGENT SAFETY OS</a:t>
            </a:r>
          </a:p>
          <a:p>
            <a:pPr>
              <a:spcBef>
                <a:spcPts val="800"/>
              </a:spcBef>
              <a:defRPr sz="1700">
                <a:solidFill>
                  <a:srgbClr val="A0A0A0"/>
                </a:solidFill>
                <a:latin typeface="Calibri"/>
              </a:defRPr>
            </a:pPr>
            <a:r>
              <a:t>Enterprise-grade spending limits, supervisor co-signatures, and zero-volatility micro-settlement on Circle's Arc L1.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728655" cy="1005840"/>
          </a:xfrm>
          <a:prstGeom prst="rect">
            <a:avLst/>
          </a:prstGeom>
          <a:solidFill>
            <a:srgbClr val="101410"/>
          </a:solidFill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THE ARC ADVANTAGE: On Circle's Arc L1, USDC is the native gas asset. Transaction fees and settlement are denominated strictly in US dollars. PolicyArc pairs Arc's sub-second Malachite consensus (&lt;800ms) with deterministic smart contract vaults to guarantee corporate treasury solvency.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63440"/>
            <a:ext cx="3383280" cy="164592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>
                <a:solidFill>
                  <a:srgbClr val="646464"/>
                </a:solidFill>
                <a:latin typeface="Consolas"/>
              </a:defRPr>
            </a:pPr>
            <a:r>
              <a:t>NATIVE GAS ASSET</a:t>
            </a:r>
          </a:p>
          <a:p>
            <a:pPr>
              <a:spcBef>
                <a:spcPts val="400"/>
              </a:spcBef>
              <a:defRPr sz="1700">
                <a:solidFill>
                  <a:srgbClr val="00FF66"/>
                </a:solidFill>
                <a:latin typeface="Arial Black"/>
              </a:defRPr>
            </a:pPr>
            <a:r>
              <a:t>100% Native USDC</a:t>
            </a:r>
          </a:p>
          <a:p>
            <a:pPr>
              <a:spcBef>
                <a:spcPts val="4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Zero volatile tokens (ETH/SOL). Predictable fractions of a cent per execution.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3750" y="4663440"/>
            <a:ext cx="3383280" cy="164592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>
                <a:solidFill>
                  <a:srgbClr val="646464"/>
                </a:solidFill>
                <a:latin typeface="Consolas"/>
              </a:defRPr>
            </a:pPr>
            <a:r>
              <a:t>BFT CONSENSUS</a:t>
            </a:r>
          </a:p>
          <a:p>
            <a:pPr>
              <a:spcBef>
                <a:spcPts val="400"/>
              </a:spcBef>
              <a:defRPr sz="1700">
                <a:solidFill>
                  <a:srgbClr val="00FF66"/>
                </a:solidFill>
                <a:latin typeface="Arial Black"/>
              </a:defRPr>
            </a:pPr>
            <a:r>
              <a:t>&lt; 800ms Finality</a:t>
            </a:r>
          </a:p>
          <a:p>
            <a:pPr>
              <a:spcBef>
                <a:spcPts val="4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Malachite consensus engine allows real-time agent micro-payments without lag.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75980" y="4663440"/>
            <a:ext cx="3383280" cy="164592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000">
                <a:solidFill>
                  <a:srgbClr val="646464"/>
                </a:solidFill>
                <a:latin typeface="Consolas"/>
              </a:defRPr>
            </a:pPr>
            <a:r>
              <a:t>SECURITY INVARIANTS</a:t>
            </a:r>
          </a:p>
          <a:p>
            <a:pPr>
              <a:spcBef>
                <a:spcPts val="400"/>
              </a:spcBef>
              <a:defRPr sz="1700">
                <a:solidFill>
                  <a:srgbClr val="00FF66"/>
                </a:solidFill>
                <a:latin typeface="Arial Black"/>
              </a:defRPr>
            </a:pPr>
            <a:r>
              <a:t>7 / 7 Verified</a:t>
            </a:r>
          </a:p>
          <a:p>
            <a:pPr>
              <a:spcBef>
                <a:spcPts val="4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Formally audited under the Build-Harness engineering standard with 100% pass 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[POLICYARC]  //  SLIDE 02 / 05  //  PROBLEM STATEMENT // STRUCTURAL BLOCKCHAIN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 Black"/>
              </a:defRPr>
            </a:pPr>
            <a:r>
              <a:t>THE TWO FATAL CRISES OF AUTONOMOUS AGENT FINANCE</a:t>
            </a:r>
          </a:p>
          <a:p>
            <a:pPr>
              <a:spcBef>
                <a:spcPts val="400"/>
              </a:spcBef>
              <a:defRPr sz="1600">
                <a:solidFill>
                  <a:srgbClr val="A0A0A0"/>
                </a:solidFill>
                <a:latin typeface="Calibri"/>
              </a:defRPr>
            </a:pPr>
            <a:r>
              <a:t>Why enterprises and developers cannot safely hand raw Web3 wallets to autonomous AI models: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12080" cy="3840480"/>
          </a:xfrm>
          <a:prstGeom prst="rect">
            <a:avLst/>
          </a:prstGeom>
          <a:solidFill>
            <a:srgbClr val="101010"/>
          </a:solidFill>
          <a:ln w="254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FF3344"/>
                </a:solidFill>
                <a:latin typeface="Consolas"/>
              </a:defRPr>
            </a:pPr>
            <a:r>
              <a:t>CRISIS 01: GAS PRICE VOLATILITY LOCKUP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Arial Black"/>
              </a:defRPr>
            </a:pPr>
            <a:r>
              <a:t>Fluctuating Network Fees Stalling Workflows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The Two-Token Hurdle: Agents on Ethereum or Solana must hold volatile native assets (ETH, SOL) solely to pay execution gas.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Sudden Fee Spikes: A network congestion spike or depleted gas balance immediately halts autonomous agent task loops mid-execution.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Unpredictable Accounting: Corporate CFOs cannot budget or audit AI operations when infrastructure costs fluctuate 200% intra-day.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2377440"/>
            <a:ext cx="5212080" cy="3840480"/>
          </a:xfrm>
          <a:prstGeom prst="rect">
            <a:avLst/>
          </a:prstGeom>
          <a:solidFill>
            <a:srgbClr val="101010"/>
          </a:solidFill>
          <a:ln w="254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wrap="square"/>
          <a:lstStyle/>
          <a:p>
            <a:pPr algn="ctr">
              <a:defRPr sz="1300" b="1">
                <a:solidFill>
                  <a:srgbClr val="FF3344"/>
                </a:solidFill>
                <a:latin typeface="Consolas"/>
              </a:defRPr>
            </a:pPr>
            <a:r>
              <a:t>CRISIS 02: UNBOUNDED TREASURY DRAINAGE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Arial Black"/>
              </a:defRPr>
            </a:pPr>
            <a:r>
              <a:t>Unconstrained Signing Autonomy &amp; Attacks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Binary Key Permissions: Standard wallets give agents 100% total signing authority with zero spend limits or recipient controls.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Prompt Injection Hijacking: A prompt injection or malicious API response can instruct the agent to transfer the entire corporate treasury into offshore pools.</a:t>
            </a:r>
          </a:p>
          <a:p>
            <a:pPr>
              <a:spcBef>
                <a:spcPts val="800"/>
              </a:spcBef>
              <a:defRPr sz="1300">
                <a:solidFill>
                  <a:srgbClr val="A0A0A0"/>
                </a:solidFill>
                <a:latin typeface="Calibri"/>
              </a:defRPr>
            </a:pPr>
            <a:r>
              <a:t>• Runaway Inference Loops: Code bugs can trigger recursive infinite execution calls, draining thousands of dollars in minutes without warning.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[POLICYARC]  //  SLIDE 03 / 05  //  SOLUTION ARCHITECTURE // THE ARC ECOSYSTEM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 Black"/>
              </a:defRPr>
            </a:pPr>
            <a:r>
              <a:t>WHY CIRCLE ARC L1 IS LOAD-BEARING FOR POLICYARC</a:t>
            </a:r>
          </a:p>
          <a:p>
            <a:pPr>
              <a:spcBef>
                <a:spcPts val="400"/>
              </a:spcBef>
              <a:defRPr sz="1600">
                <a:solidFill>
                  <a:srgbClr val="A0A0A0"/>
                </a:solidFill>
                <a:latin typeface="Calibri"/>
              </a:defRPr>
            </a:pPr>
            <a:r>
              <a:t>Arc is not just another EVM layer; its unique primitives make sovereign agent economics mathematically viable: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383280" cy="3931920"/>
          </a:xfrm>
          <a:prstGeom prst="rect">
            <a:avLst/>
          </a:prstGeom>
          <a:solidFill>
            <a:srgbClr val="101010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PILLAR 01 // NATIVE GAS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Arial Black"/>
              </a:defRPr>
            </a:pPr>
            <a:r>
              <a:t>Native USDC Gas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Eliminates the two-token hurdle entirely.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All transaction fees, gas accounting, and balances are denominated in dollars.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Agents only hold and budget a single, stable currency.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Gas costs are microscopic (~0.000120 USDC), enabling micro-payments down to $0.05.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3750" y="2377440"/>
            <a:ext cx="3383280" cy="393192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PILLAR 02 // SPEED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Arial Black"/>
              </a:defRPr>
            </a:pPr>
            <a:r>
              <a:t>Malachite BFT (&lt;800ms)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AI agents operate in high-speed algorithmic loops.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Arc provides deterministic finality in under 800 milliseconds.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No multi-minute block wait times or dropped nonces.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Enables real-time agent-to-agent and agent-to-API payment settlement.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5980" y="2377440"/>
            <a:ext cx="3383280" cy="393192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PILLAR 03 // GLOBAL EXPANSION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  <a:latin typeface="Arial Black"/>
              </a:defRPr>
            </a:pPr>
            <a:r>
              <a:t>Circle StableFX Ready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Native on-chain atomic stablecoin conversion engine.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Agents can hold USDC and seamlessly route payments in EURC or global stablecoins.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Enables global compute leasing across European and Asian localized clusters.</a:t>
            </a:r>
          </a:p>
          <a:p>
            <a:pPr>
              <a:spcBef>
                <a:spcPts val="800"/>
              </a:spcBef>
              <a:defRPr sz="1200">
                <a:solidFill>
                  <a:srgbClr val="A0A0A0"/>
                </a:solidFill>
                <a:latin typeface="Calibri"/>
              </a:defRPr>
            </a:pPr>
            <a:r>
              <a:t>• Future-proof substrate for multinational enterprise agent workforces.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[POLICYARC]  //  SLIDE 04 / 05  //  MECHANISM &amp; PROOF // BUILD-HARNESS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 Black"/>
              </a:defRPr>
            </a:pPr>
            <a:r>
              <a:t>THE THREE-TIER SAFETY VALVE &amp; 7 INVARIANTS</a:t>
            </a:r>
          </a:p>
          <a:p>
            <a:pPr>
              <a:defRPr sz="1500">
                <a:solidFill>
                  <a:srgbClr val="A0A0A0"/>
                </a:solidFill>
                <a:latin typeface="Calibri"/>
              </a:defRPr>
            </a:pPr>
            <a:r>
              <a:t>PolicyVault implements deterministic on-chain governance backed by automated invariant testing: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5212080" cy="4023360"/>
          </a:xfrm>
          <a:prstGeom prst="rect">
            <a:avLst/>
          </a:prstGeom>
          <a:solidFill>
            <a:srgbClr val="101010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ON-CHAIN GOVERNANCE ENGINE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Arial Black"/>
              </a:defRPr>
            </a:pPr>
            <a:r>
              <a:t>Tier 1: Autonomous Spends (&lt;= $2.00 USDC)</a:t>
            </a:r>
          </a:p>
          <a:p>
            <a:pPr>
              <a:defRPr sz="1100">
                <a:solidFill>
                  <a:srgbClr val="A0A0A0"/>
                </a:solidFill>
                <a:latin typeface="Calibri"/>
              </a:defRPr>
            </a:pPr>
            <a:r>
              <a:t>Agent queries APIs or procures micro-tasks autonomously. Settles in &lt;800ms with native USDC receipt.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Arial Black"/>
              </a:defRPr>
            </a:pPr>
            <a:r>
              <a:t>Tier 2: Supervisor Co-Signature Gate (&gt; $2.00)</a:t>
            </a:r>
          </a:p>
          <a:p>
            <a:pPr>
              <a:defRPr sz="1100">
                <a:solidFill>
                  <a:srgbClr val="A0A0A0"/>
                </a:solidFill>
                <a:latin typeface="Calibri"/>
              </a:defRPr>
            </a:pPr>
            <a:r>
              <a:t>Preflight halts high-value spend. Requires an off-chain cryptographic ECDSA signature from human supervisor key.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Arial Black"/>
              </a:defRPr>
            </a:pPr>
            <a:r>
              <a:t>Tier 3: Hard Ceilings ($10.00 Cap / $50 Daily)</a:t>
            </a:r>
          </a:p>
          <a:p>
            <a:pPr>
              <a:defRPr sz="1100">
                <a:solidFill>
                  <a:srgbClr val="A0A0A0"/>
                </a:solidFill>
                <a:latin typeface="Calibri"/>
              </a:defRPr>
            </a:pPr>
            <a:r>
              <a:t>Non-negotiable invariants. Any transaction above $10 or daily spend above $50 immediately reverts on-chain.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  <a:latin typeface="Arial Black"/>
              </a:defRPr>
            </a:pPr>
            <a:r>
              <a:t>Emergency Circuit Breaker</a:t>
            </a:r>
          </a:p>
          <a:p>
            <a:pPr>
              <a:defRPr sz="1100">
                <a:solidFill>
                  <a:srgbClr val="A0A0A0"/>
                </a:solidFill>
                <a:latin typeface="Calibri"/>
              </a:defRPr>
            </a:pPr>
            <a:r>
              <a:t>Owner or supervisor can trigger fail-closed pause state instantly freezing all vault transfers.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8095" y="2286000"/>
            <a:ext cx="5212080" cy="4023360"/>
          </a:xfrm>
          <a:prstGeom prst="rect">
            <a:avLst/>
          </a:prstGeom>
          <a:solidFill>
            <a:srgbClr val="101010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BUILD-HARNESS: 7/7 INVARIANTS PASS (100%)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INV-001: Per-Tx Spending Ceiling ($10.00 cap)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INV-002: 24h Rolling Budget Accumulator ($50.00)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INV-003: Supervisor ECDSA Dual-Signature Gateway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INV-004: Strict Destination Whitelist Registry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INV-005: Fail-Closed Emergency Circuit Breaker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INV-006: Reentrancy Protection via CEI Pattern [PASS]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Consolas"/>
              </a:defRPr>
            </a:pPr>
            <a:r>
              <a:t>• INV-007: Arc Native USDC Gas Predictability [PASS]</a:t>
            </a:r>
          </a:p>
          <a:p>
            <a:pPr>
              <a:spcBef>
                <a:spcPts val="1000"/>
              </a:spcBef>
              <a:defRPr sz="1100" b="1">
                <a:solidFill>
                  <a:srgbClr val="FFB300"/>
                </a:solidFill>
                <a:latin typeface="Consolas"/>
              </a:defRPr>
            </a:pPr>
            <a:r>
              <a:t>FRESH LIVE ARC TESTNET PROOFS:</a:t>
            </a:r>
          </a:p>
          <a:p>
            <a:pPr>
              <a:defRPr sz="1000">
                <a:solidFill>
                  <a:srgbClr val="A0A0A0"/>
                </a:solidFill>
                <a:latin typeface="Consolas"/>
              </a:defRPr>
            </a:pPr>
            <a:r>
              <a:t>• Tx 0xcc1e...f89b: -$0.25 USDC Autonomous Spend</a:t>
            </a:r>
            <a:br/>
            <a:r>
              <a:t>• Tx 0x0aae...78f9: -$3.50 USDC Supervisor Co-Signed</a:t>
            </a:r>
            <a:br/>
            <a:r>
              <a:t>• Verified on Arcscan Block #65,791,146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[POLICYARC]  //  SLIDE 05 / 05  //  ROADMAP // CIRCLE GRANT PROGRAM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Arial Black"/>
              </a:defRPr>
            </a:pPr>
            <a:r>
              <a:t>FROM MICROGRANT TO ENTERPRISE SCALE</a:t>
            </a:r>
          </a:p>
          <a:p>
            <a:pPr>
              <a:spcBef>
                <a:spcPts val="400"/>
              </a:spcBef>
              <a:defRPr sz="1600">
                <a:solidFill>
                  <a:srgbClr val="A0A0A0"/>
                </a:solidFill>
                <a:latin typeface="Calibri"/>
              </a:defRPr>
            </a:pPr>
            <a:r>
              <a:t>The strategic roadmap positioning PolicyArc for the $10,000–$100,000 Circle Grant Program: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383280" cy="2926080"/>
          </a:xfrm>
          <a:prstGeom prst="rect">
            <a:avLst/>
          </a:prstGeom>
          <a:solidFill>
            <a:srgbClr val="101010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1000" b="1">
                <a:solidFill>
                  <a:srgbClr val="00FF66"/>
                </a:solidFill>
                <a:latin typeface="Consolas"/>
              </a:defRPr>
            </a:pPr>
            <a:r>
              <a:t>PHASE 01 (CURRENT)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Arial Black"/>
              </a:defRPr>
            </a:pPr>
            <a:r>
              <a:t>Arc Microgrant MVP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Complete working prototype on Arc Testnet.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PolicyVault &amp; MockUSDC contracts live.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7 Formally verified security invariants.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Interactive operational console &amp; docs.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3750" y="2377440"/>
            <a:ext cx="3383280" cy="292608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1000" b="1">
                <a:solidFill>
                  <a:srgbClr val="00FF66"/>
                </a:solidFill>
                <a:latin typeface="Consolas"/>
              </a:defRPr>
            </a:pPr>
            <a:r>
              <a:t>PHASE 02 (Q4 2026)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Arial Black"/>
              </a:defRPr>
            </a:pPr>
            <a:r>
              <a:t>Circle StableFX Integration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Integrate Circle's native StableFX engine.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Atomic multi-stablecoin swaps (USDC/EURC).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Cross-border agent payroll settlement.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Localized compute cluster leasing.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5980" y="2377440"/>
            <a:ext cx="3383280" cy="2926080"/>
          </a:xfrm>
          <a:prstGeom prst="rect">
            <a:avLst/>
          </a:prstGeom>
          <a:solidFill>
            <a:srgbClr val="101010"/>
          </a:solidFill>
          <a:ln w="12700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>
              <a:defRPr sz="1000" b="1">
                <a:solidFill>
                  <a:srgbClr val="00FF66"/>
                </a:solidFill>
                <a:latin typeface="Consolas"/>
              </a:defRPr>
            </a:pPr>
            <a:r>
              <a:t>PHASE 03 (Q1 2027)</a:t>
            </a:r>
          </a:p>
          <a:p>
            <a:pPr>
              <a:spcBef>
                <a:spcPts val="400"/>
              </a:spcBef>
              <a:defRPr sz="1600">
                <a:solidFill>
                  <a:srgbClr val="FFFFFF"/>
                </a:solidFill>
                <a:latin typeface="Arial Black"/>
              </a:defRPr>
            </a:pPr>
            <a:r>
              <a:t>Departmental Pools &amp; SDKs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Hierarchical multi-agent corporate pools.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Sub-agent micro-budget delegation.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First-party plugins for LangChain &amp; CrewAI.</a:t>
            </a:r>
          </a:p>
          <a:p>
            <a:pPr>
              <a:spcBef>
                <a:spcPts val="600"/>
              </a:spcBef>
              <a:defRPr sz="1100">
                <a:solidFill>
                  <a:srgbClr val="A0A0A0"/>
                </a:solidFill>
                <a:latin typeface="Calibri"/>
              </a:defRPr>
            </a:pPr>
            <a:r>
              <a:t>• Audit &amp; compliance export for corporate ERPs.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728655" cy="914400"/>
          </a:xfrm>
          <a:prstGeom prst="rect">
            <a:avLst/>
          </a:prstGeom>
          <a:solidFill>
            <a:srgbClr val="0C100C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 wrap="square"/>
          <a:lstStyle/>
          <a:p>
            <a:pPr algn="ctr">
              <a:defRPr sz="1100" b="1">
                <a:solidFill>
                  <a:srgbClr val="00FF66"/>
                </a:solidFill>
                <a:latin typeface="Consolas"/>
              </a:defRPr>
            </a:pPr>
            <a:r>
              <a:t>OFFICIAL SUBMISSION LINKS &amp; ARTIFACTS: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t>• Live Console: https://policyarc.vercel.app   • Docs: https://policyarc.vercel.app/docs</a:t>
            </a:r>
            <a:br/>
            <a:r>
              <a:t>• GitHub: https://github.com/0xNexuz/policy-arc   • Contract: 0xb9176558920B53e9542AD75eDC9Bfa68de3A89C0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